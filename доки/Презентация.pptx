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61" r:id="rId3"/>
    <p:sldId id="279" r:id="rId4"/>
    <p:sldId id="262" r:id="rId5"/>
    <p:sldId id="263" r:id="rId6"/>
    <p:sldId id="259" r:id="rId7"/>
    <p:sldId id="265" r:id="rId8"/>
    <p:sldId id="276" r:id="rId9"/>
    <p:sldId id="270" r:id="rId10"/>
    <p:sldId id="271" r:id="rId11"/>
    <p:sldId id="283" r:id="rId12"/>
    <p:sldId id="284" r:id="rId13"/>
    <p:sldId id="269" r:id="rId14"/>
    <p:sldId id="260" r:id="rId15"/>
    <p:sldId id="282" r:id="rId16"/>
    <p:sldId id="280" r:id="rId17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92"/>
    <a:srgbClr val="173277"/>
    <a:srgbClr val="B2DEF4"/>
    <a:srgbClr val="79C5EB"/>
    <a:srgbClr val="4DB1E5"/>
    <a:srgbClr val="0076BD"/>
    <a:srgbClr val="0050A0"/>
    <a:srgbClr val="003772"/>
    <a:srgbClr val="12225A"/>
    <a:srgbClr val="004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891" autoAdjust="0"/>
  </p:normalViewPr>
  <p:slideViewPr>
    <p:cSldViewPr snapToGrid="0">
      <p:cViewPr varScale="1">
        <p:scale>
          <a:sx n="94" d="100"/>
          <a:sy n="94" d="100"/>
        </p:scale>
        <p:origin x="7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779E5-139F-4871-BF75-EFD8CFB9375D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0E3BFF-F3BC-4E2E-985E-153B37618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94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646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669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3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979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044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040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909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552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833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9913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540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94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04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109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77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01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48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51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735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72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AB9B0-F519-466D-89AE-77C441F2D432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9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22980" y="954067"/>
            <a:ext cx="8048626" cy="2297459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dirty="0">
                <a:solidFill>
                  <a:srgbClr val="004892"/>
                </a:solidFill>
                <a:latin typeface="Montserrat Bold" panose="00000800000000000000" pitchFamily="2" charset="-52"/>
              </a:rPr>
              <a:t>Разработка программного обеспечения для управления камерой и обработки данных в системе инфракрасного мониторинга температуры объекта</a:t>
            </a:r>
            <a:endParaRPr lang="en-US" sz="3600" dirty="0">
              <a:solidFill>
                <a:srgbClr val="004892"/>
              </a:solidFill>
              <a:latin typeface="Montserrat Bold" panose="00000800000000000000" pitchFamily="2" charset="-52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0" y="6862674"/>
            <a:ext cx="10691814" cy="4588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73277"/>
                </a:solidFill>
                <a:latin typeface="Montserrat" panose="00000500000000000000" pitchFamily="2" charset="-52"/>
              </a:rPr>
              <a:t>202</a:t>
            </a:r>
            <a:r>
              <a:rPr lang="ru-RU" sz="1600" dirty="0">
                <a:solidFill>
                  <a:srgbClr val="173277"/>
                </a:solidFill>
                <a:latin typeface="Montserrat" panose="00000500000000000000" pitchFamily="2" charset="-52"/>
              </a:rPr>
              <a:t>6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196" y="5178446"/>
            <a:ext cx="2232818" cy="1427162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2459168" y="4308149"/>
            <a:ext cx="8048626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ru-RU" sz="2400" dirty="0">
                <a:solidFill>
                  <a:srgbClr val="004892"/>
                </a:solidFill>
                <a:latin typeface="Montserrat" panose="00000500000000000000" pitchFamily="2" charset="-52"/>
              </a:rPr>
              <a:t>Лашманов Николай ИСТбд-41</a:t>
            </a:r>
          </a:p>
        </p:txBody>
      </p:sp>
    </p:spTree>
    <p:extLst>
      <p:ext uri="{BB962C8B-B14F-4D97-AF65-F5344CB8AC3E}">
        <p14:creationId xmlns:p14="http://schemas.microsoft.com/office/powerpoint/2010/main" val="212634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511968" y="280019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5400" dirty="0">
                <a:solidFill>
                  <a:srgbClr val="004892"/>
                </a:solidFill>
                <a:latin typeface="Montserrat" panose="00000500000000000000" pitchFamily="2" charset="-52"/>
              </a:rPr>
              <a:t>Актуальность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68" y="1428749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Современные электронные устройства чувствительны к перегреву компонентов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Ручной температурный контроль требует постоянного участия оператора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Отсутствует автоматическое накопление и анализ результатов измерений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Необходима визуализация температурных данных на изображении объекта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Требуется автоматизация формирования отчётов и хранения результатов.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17437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590990" y="1137975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3600" dirty="0">
                <a:solidFill>
                  <a:srgbClr val="004892"/>
                </a:solidFill>
                <a:latin typeface="Montserrat" panose="00000500000000000000" pitchFamily="2" charset="-52"/>
              </a:rPr>
              <a:t>Обоснование разработки: Специфика заказчика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70" y="2577478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 Отсутствие доступа к внешним сетям и интернету</a:t>
            </a:r>
          </a:p>
          <a:p>
            <a:pPr marL="457200" indent="-457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Требуется работа с недорогим оборудованием и открытым ПО</a:t>
            </a:r>
          </a:p>
          <a:p>
            <a:pPr marL="457200" indent="-4572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Минимизация затрат за счет использования свободных лицензий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22266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383380" y="406400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rgbClr val="004892"/>
                </a:solidFill>
                <a:latin typeface="Montserrat" panose="00000500000000000000" pitchFamily="2" charset="-52"/>
              </a:rPr>
              <a:t>Цель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67" y="1903685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r>
              <a:rPr lang="ru-RU" sz="3200" dirty="0">
                <a:latin typeface="Montserrat" panose="00000500000000000000" pitchFamily="2" charset="-52"/>
              </a:rPr>
              <a:t>Автоматизировать процесс инфракрасного мониторинга температуры изделий посредством разработки программного обеспечения для управления камерой, визуализации результатов измерений и обработки полученных данных.</a:t>
            </a:r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2472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581025" y="390525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004892"/>
                </a:solidFill>
                <a:latin typeface="Montserrat" panose="00000500000000000000" pitchFamily="2" charset="-52"/>
              </a:rPr>
              <a:t>Задачи: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68" y="1903685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5E393-BA54-46F9-9B85-D3A27981D9B1}"/>
              </a:ext>
            </a:extLst>
          </p:cNvPr>
          <p:cNvSpPr txBox="1"/>
          <p:nvPr/>
        </p:nvSpPr>
        <p:spPr>
          <a:xfrm>
            <a:off x="328613" y="904241"/>
            <a:ext cx="93964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Провести исследование и анализ существующих аналогов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Сформировать комплекс требований к приложению.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О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ценить экономическую выгоду от внедрения.</a:t>
            </a:r>
            <a:endParaRPr lang="ru-R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Разработать алгоритмы обработки измерений.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Реализовать визуализацию температурных точек.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Реализовать функционал назначения компетенций на задачи проектов.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Разработать функционал экспорта и создания отчётов.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Провести тестирование разработанной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3835246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581025" y="390525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600" dirty="0">
                <a:solidFill>
                  <a:srgbClr val="004892"/>
                </a:solidFill>
                <a:latin typeface="Montserrat" panose="00000500000000000000" pitchFamily="2" charset="-52"/>
              </a:rPr>
              <a:t>Сравнительная таблица аналогов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9E9C05D-85D9-4EEE-AB64-5FD4EBA3D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69280"/>
              </p:ext>
            </p:extLst>
          </p:nvPr>
        </p:nvGraphicFramePr>
        <p:xfrm>
          <a:off x="581024" y="956160"/>
          <a:ext cx="9335136" cy="4230163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266006">
                  <a:extLst>
                    <a:ext uri="{9D8B030D-6E8A-4147-A177-3AD203B41FA5}">
                      <a16:colId xmlns:a16="http://schemas.microsoft.com/office/drawing/2014/main" val="3139602817"/>
                    </a:ext>
                  </a:extLst>
                </a:gridCol>
                <a:gridCol w="2091147">
                  <a:extLst>
                    <a:ext uri="{9D8B030D-6E8A-4147-A177-3AD203B41FA5}">
                      <a16:colId xmlns:a16="http://schemas.microsoft.com/office/drawing/2014/main" val="1792330583"/>
                    </a:ext>
                  </a:extLst>
                </a:gridCol>
                <a:gridCol w="1328906">
                  <a:extLst>
                    <a:ext uri="{9D8B030D-6E8A-4147-A177-3AD203B41FA5}">
                      <a16:colId xmlns:a16="http://schemas.microsoft.com/office/drawing/2014/main" val="3359325622"/>
                    </a:ext>
                  </a:extLst>
                </a:gridCol>
                <a:gridCol w="1211304">
                  <a:extLst>
                    <a:ext uri="{9D8B030D-6E8A-4147-A177-3AD203B41FA5}">
                      <a16:colId xmlns:a16="http://schemas.microsoft.com/office/drawing/2014/main" val="3755683516"/>
                    </a:ext>
                  </a:extLst>
                </a:gridCol>
                <a:gridCol w="1437773">
                  <a:extLst>
                    <a:ext uri="{9D8B030D-6E8A-4147-A177-3AD203B41FA5}">
                      <a16:colId xmlns:a16="http://schemas.microsoft.com/office/drawing/2014/main" val="4015992702"/>
                    </a:ext>
                  </a:extLst>
                </a:gridCol>
              </a:tblGrid>
              <a:tr h="87263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Критерий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Разрабатываемая система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/>
                        <a:t>Fluke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SmartView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FLIR Tools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/>
                        <a:t>ThermaCAM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Researcher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843203"/>
                  </a:ext>
                </a:extLst>
              </a:tr>
              <a:tr h="3389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Приём данных от сторонних устройств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✔️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495049"/>
                  </a:ext>
                </a:extLst>
              </a:tr>
              <a:tr h="560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Хранение в открытой БД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✔️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83530"/>
                  </a:ext>
                </a:extLst>
              </a:tr>
              <a:tr h="5115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Экспорт в CSV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✔️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210227"/>
                  </a:ext>
                </a:extLst>
              </a:tr>
              <a:tr h="5126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Создание отчётов DOCX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</a:rPr>
                        <a:t>✔️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✔️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55694"/>
                  </a:ext>
                </a:extLst>
              </a:tr>
              <a:tr h="5126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Открытый исходный код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109" marR="591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✔️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863607"/>
                  </a:ext>
                </a:extLst>
              </a:tr>
              <a:tr h="6863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Возможность доработки под требования предприятия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✔️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86166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1B1E2DE-88B9-4F85-A1A5-C882598833C0}"/>
              </a:ext>
            </a:extLst>
          </p:cNvPr>
          <p:cNvSpPr txBox="1"/>
          <p:nvPr/>
        </p:nvSpPr>
        <p:spPr>
          <a:xfrm>
            <a:off x="581025" y="5467510"/>
            <a:ext cx="79699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ru-RU" sz="1600" dirty="0">
                <a:effectLst/>
              </a:rPr>
              <a:t>✔️  </a:t>
            </a:r>
            <a:r>
              <a:rPr lang="ru-RU" dirty="0">
                <a:effectLst/>
              </a:rPr>
              <a:t>-</a:t>
            </a:r>
            <a:r>
              <a:rPr lang="ru-RU" sz="1600" dirty="0">
                <a:effectLst/>
              </a:rPr>
              <a:t> </a:t>
            </a:r>
            <a:r>
              <a:rPr lang="ru-RU" dirty="0">
                <a:effectLst/>
              </a:rPr>
              <a:t>поддерживается</a:t>
            </a:r>
          </a:p>
          <a:p>
            <a:r>
              <a:rPr lang="ru-RU" dirty="0">
                <a:effectLst/>
              </a:rPr>
              <a:t>❌ - отсутствует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934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383381" y="440267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rgbClr val="004892"/>
                </a:solidFill>
                <a:latin typeface="Montserrat" panose="00000500000000000000" pitchFamily="2" charset="-52"/>
              </a:rPr>
              <a:t>Стек технологий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68" y="1869819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r>
              <a:rPr lang="ru-RU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ОС: </a:t>
            </a: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Windows 10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r>
              <a:rPr lang="ru-RU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СУБД: </a:t>
            </a: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 8.0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 3.</a:t>
            </a:r>
            <a:r>
              <a:rPr lang="ru-RU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0+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r>
              <a:rPr lang="ru-RU" sz="3600" dirty="0"/>
              <a:t>GUI: </a:t>
            </a:r>
            <a:r>
              <a:rPr lang="ru-RU" sz="3600" dirty="0" err="1"/>
              <a:t>Tkinter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99018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581025" y="390525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rgbClr val="004892"/>
                </a:solidFill>
                <a:latin typeface="Montserrat" panose="00000500000000000000" pitchFamily="2" charset="-52"/>
              </a:rPr>
              <a:t>Оператор может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68" y="1903685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114E73-DB93-40A3-B941-BDCB49A599FB}"/>
              </a:ext>
            </a:extLst>
          </p:cNvPr>
          <p:cNvSpPr txBox="1"/>
          <p:nvPr/>
        </p:nvSpPr>
        <p:spPr>
          <a:xfrm>
            <a:off x="728749" y="2348676"/>
            <a:ext cx="923431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ru-RU" sz="3600" dirty="0"/>
              <a:t>Создавать отчёт по результатам последнего измерения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ru-RU" sz="3600" dirty="0"/>
              <a:t>Выводить данные для работы в </a:t>
            </a:r>
            <a:r>
              <a:rPr lang="en-US" sz="3600" dirty="0"/>
              <a:t>Excel</a:t>
            </a:r>
            <a:endParaRPr lang="ru-RU" sz="3600" dirty="0"/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ru-RU" sz="3600" dirty="0"/>
              <a:t>Видеть проблемные участки при измерениях</a:t>
            </a:r>
          </a:p>
        </p:txBody>
      </p:sp>
    </p:spTree>
    <p:extLst>
      <p:ext uri="{BB962C8B-B14F-4D97-AF65-F5344CB8AC3E}">
        <p14:creationId xmlns:p14="http://schemas.microsoft.com/office/powerpoint/2010/main" val="2212148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383380" y="378082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rgbClr val="004892"/>
                </a:solidFill>
                <a:latin typeface="Montserrat" panose="00000500000000000000" pitchFamily="2" charset="-52"/>
              </a:rPr>
              <a:t>Входные данные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68" y="1903685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617167-514D-4EF0-B686-6D85BDACAAC8}"/>
              </a:ext>
            </a:extLst>
          </p:cNvPr>
          <p:cNvSpPr txBox="1"/>
          <p:nvPr/>
        </p:nvSpPr>
        <p:spPr>
          <a:xfrm>
            <a:off x="958850" y="1517679"/>
            <a:ext cx="812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ru-RU" sz="3600" dirty="0"/>
              <a:t>Температура с датчика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ru-RU" sz="3600" dirty="0"/>
              <a:t>Изображение с камеры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ru-RU" sz="3600" dirty="0"/>
              <a:t>Координаты точек измерения </a:t>
            </a:r>
            <a:endParaRPr lang="en-US" sz="3600" dirty="0"/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ru-RU" sz="3600" dirty="0"/>
              <a:t>Временная метка</a:t>
            </a:r>
          </a:p>
        </p:txBody>
      </p:sp>
    </p:spTree>
    <p:extLst>
      <p:ext uri="{BB962C8B-B14F-4D97-AF65-F5344CB8AC3E}">
        <p14:creationId xmlns:p14="http://schemas.microsoft.com/office/powerpoint/2010/main" val="3488289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592314" y="211117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rgbClr val="004892"/>
                </a:solidFill>
                <a:latin typeface="Montserrat" panose="00000500000000000000" pitchFamily="2" charset="-52"/>
              </a:rPr>
              <a:t>Выходные данные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68" y="1903685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617167-514D-4EF0-B686-6D85BDACAAC8}"/>
              </a:ext>
            </a:extLst>
          </p:cNvPr>
          <p:cNvSpPr txBox="1"/>
          <p:nvPr/>
        </p:nvSpPr>
        <p:spPr>
          <a:xfrm>
            <a:off x="511968" y="1786684"/>
            <a:ext cx="9925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/>
              <a:t>Изображение с тепловой картой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/>
              <a:t>Записи в базе данных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/>
              <a:t>CSV-файлы результатов измерений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/>
              <a:t>Отчёты в формате DOCX </a:t>
            </a:r>
          </a:p>
        </p:txBody>
      </p:sp>
    </p:spTree>
    <p:extLst>
      <p:ext uri="{BB962C8B-B14F-4D97-AF65-F5344CB8AC3E}">
        <p14:creationId xmlns:p14="http://schemas.microsoft.com/office/powerpoint/2010/main" val="95074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2214166-B189-1DC7-910F-FF7D02253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921" y="944881"/>
            <a:ext cx="6888480" cy="51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261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DCD3C0-B716-2370-DC94-C2D3D5279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48" y="873761"/>
            <a:ext cx="7028252" cy="586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521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581025" y="390525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004892"/>
                </a:solidFill>
                <a:latin typeface="Montserrat" panose="00000500000000000000" pitchFamily="2" charset="-52"/>
              </a:rPr>
              <a:t>Выполненные задачи: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68" y="1903685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5E393-BA54-46F9-9B85-D3A27981D9B1}"/>
              </a:ext>
            </a:extLst>
          </p:cNvPr>
          <p:cNvSpPr txBox="1"/>
          <p:nvPr/>
        </p:nvSpPr>
        <p:spPr>
          <a:xfrm>
            <a:off x="328613" y="904241"/>
            <a:ext cx="939641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Провести исследование и анализ существующих аналогов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Сформировать комплекс требований к приложению.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Оценить экономическую выгоду от внедрения.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Разработать алгоритмы обработки измерений.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Реализовать визуализацию температурных точек.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Реализовать функционал назначения компетенций на задачи проектов.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Разработать функционал экспорта и создания отчётов.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200" dirty="0">
                <a:latin typeface="Calibri" panose="020F0502020204030204" pitchFamily="34" charset="0"/>
                <a:cs typeface="Calibri" panose="020F0502020204030204" pitchFamily="34" charset="0"/>
              </a:rPr>
              <a:t>Провести тестирование разработанной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37421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07292" y="2057400"/>
            <a:ext cx="8048626" cy="2297459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dirty="0">
                <a:solidFill>
                  <a:srgbClr val="004892"/>
                </a:solidFill>
                <a:latin typeface="Montserrat Bold" panose="00000800000000000000" pitchFamily="2" charset="-52"/>
              </a:rPr>
              <a:t>Спасибо за внимание!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0" y="6862674"/>
            <a:ext cx="10691814" cy="4588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73277"/>
                </a:solidFill>
                <a:latin typeface="Montserrat" panose="00000500000000000000" pitchFamily="2" charset="-52"/>
              </a:rPr>
              <a:t>202</a:t>
            </a:r>
            <a:r>
              <a:rPr lang="ru-RU" sz="1600" dirty="0">
                <a:solidFill>
                  <a:srgbClr val="173277"/>
                </a:solidFill>
                <a:latin typeface="Montserrat" panose="00000500000000000000" pitchFamily="2" charset="-52"/>
              </a:rPr>
              <a:t>5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196" y="5178446"/>
            <a:ext cx="2232818" cy="142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360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F76403-64BB-55C2-CB9A-81A85CA47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82" y="915005"/>
            <a:ext cx="8975848" cy="504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6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34AD0F-F62A-879D-A817-65446C14C2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646" y="0"/>
            <a:ext cx="3778520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459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4">
      <a:majorFont>
        <a:latin typeface="Geometria  bold"/>
        <a:ea typeface=""/>
        <a:cs typeface=""/>
      </a:majorFont>
      <a:minorFont>
        <a:latin typeface="Geometria light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1116</TotalTime>
  <Words>426</Words>
  <Application>Microsoft Office PowerPoint</Application>
  <PresentationFormat>Произвольный</PresentationFormat>
  <Paragraphs>122</Paragraphs>
  <Slides>16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Geometria  bold</vt:lpstr>
      <vt:lpstr>Geometria light</vt:lpstr>
      <vt:lpstr>Montserrat</vt:lpstr>
      <vt:lpstr>Montserrat Bold</vt:lpstr>
      <vt:lpstr>Тема Office</vt:lpstr>
      <vt:lpstr>Разработка программного обеспечения для управления камерой и обработки данных в системе инфракрасного мониторинга температуры объекта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приемной  кампании - 2019</dc:title>
  <dc:creator>afsafasfasfa afafaf</dc:creator>
  <cp:lastModifiedBy>Николай Лашманов</cp:lastModifiedBy>
  <cp:revision>88</cp:revision>
  <dcterms:created xsi:type="dcterms:W3CDTF">2019-09-16T12:04:13Z</dcterms:created>
  <dcterms:modified xsi:type="dcterms:W3CDTF">2026-06-09T22:09:02Z</dcterms:modified>
</cp:coreProperties>
</file>