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61" r:id="rId3"/>
    <p:sldId id="262" r:id="rId4"/>
    <p:sldId id="263" r:id="rId5"/>
    <p:sldId id="259" r:id="rId6"/>
    <p:sldId id="265" r:id="rId7"/>
    <p:sldId id="270" r:id="rId8"/>
    <p:sldId id="284" r:id="rId9"/>
    <p:sldId id="286" r:id="rId10"/>
    <p:sldId id="283" r:id="rId11"/>
    <p:sldId id="260" r:id="rId12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92"/>
    <a:srgbClr val="173277"/>
    <a:srgbClr val="B2DEF4"/>
    <a:srgbClr val="79C5EB"/>
    <a:srgbClr val="4DB1E5"/>
    <a:srgbClr val="0076BD"/>
    <a:srgbClr val="0050A0"/>
    <a:srgbClr val="003772"/>
    <a:srgbClr val="12225A"/>
    <a:srgbClr val="004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891" autoAdjust="0"/>
  </p:normalViewPr>
  <p:slideViewPr>
    <p:cSldViewPr snapToGrid="0">
      <p:cViewPr varScale="1">
        <p:scale>
          <a:sx n="94" d="100"/>
          <a:sy n="94" d="100"/>
        </p:scale>
        <p:origin x="16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779E5-139F-4871-BF75-EFD8CFB9375D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0E3BFF-F3BC-4E2E-985E-153B37618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94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3BFF-F3BC-4E2E-985E-153B37618D0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646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3BFF-F3BC-4E2E-985E-153B37618D0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3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3BFF-F3BC-4E2E-985E-153B37618D0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1979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3BFF-F3BC-4E2E-985E-153B37618D0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044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3BFF-F3BC-4E2E-985E-153B37618D0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909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D5672-5329-69B0-47D2-8E314DF51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092721A-F006-AC70-87F6-0376FA714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AB0BF6C-CA88-204A-69EF-23A3CB600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DE8B77-9750-3427-B41D-90029DEE8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3BFF-F3BC-4E2E-985E-153B37618D0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410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1B9BB-BD27-B298-B5EB-DD34B4202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E30CD3-8604-BE32-18F0-D3D3AAAF1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FDC0539-49C4-9911-1F84-0629D561A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003AF1-7FF5-867C-6618-71C26798F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0E3BFF-F3BC-4E2E-985E-153B37618D0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378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9913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540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946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043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109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77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01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480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51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735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B9B0-F519-466D-89AE-77C441F2D432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72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AB9B0-F519-466D-89AE-77C441F2D432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159DB-3D0D-4C3B-A9E8-12A3FA901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9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22980" y="954067"/>
            <a:ext cx="8048626" cy="2297459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dirty="0">
                <a:solidFill>
                  <a:srgbClr val="004892"/>
                </a:solidFill>
                <a:latin typeface="Montserrat Bold" panose="00000800000000000000" pitchFamily="2" charset="-52"/>
              </a:rPr>
              <a:t>Разработка программного обеспечения для управления камерой и обработки данных в системе инфракрасного мониторинга температуры объекта</a:t>
            </a:r>
            <a:endParaRPr lang="en-US" sz="3600" dirty="0">
              <a:solidFill>
                <a:srgbClr val="004892"/>
              </a:solidFill>
              <a:latin typeface="Montserrat Bold" panose="00000800000000000000" pitchFamily="2" charset="-52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0" y="6862674"/>
            <a:ext cx="10691814" cy="4588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73277"/>
                </a:solidFill>
                <a:latin typeface="Montserrat" panose="00000500000000000000" pitchFamily="2" charset="-52"/>
              </a:rPr>
              <a:t>202</a:t>
            </a:r>
            <a:r>
              <a:rPr lang="ru-RU" sz="1600" dirty="0">
                <a:solidFill>
                  <a:srgbClr val="173277"/>
                </a:solidFill>
                <a:latin typeface="Montserrat" panose="00000500000000000000" pitchFamily="2" charset="-52"/>
              </a:rPr>
              <a:t>6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196" y="5178446"/>
            <a:ext cx="2232818" cy="1427162"/>
          </a:xfrm>
          <a:prstGeom prst="rect">
            <a:avLst/>
          </a:prstGeom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2459168" y="4308149"/>
            <a:ext cx="8048626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ru-RU" sz="2400" dirty="0">
                <a:solidFill>
                  <a:srgbClr val="004892"/>
                </a:solidFill>
                <a:latin typeface="Montserrat" panose="00000500000000000000" pitchFamily="2" charset="-52"/>
              </a:rPr>
              <a:t>Выполнил: Лашманов Н. Н., ИСТбд-41</a:t>
            </a:r>
          </a:p>
          <a:p>
            <a:pPr algn="r">
              <a:lnSpc>
                <a:spcPct val="100000"/>
              </a:lnSpc>
            </a:pPr>
            <a:r>
              <a:rPr lang="ru-RU" sz="2400" dirty="0">
                <a:solidFill>
                  <a:srgbClr val="004892"/>
                </a:solidFill>
                <a:latin typeface="Montserrat" panose="00000500000000000000" pitchFamily="2" charset="-52"/>
              </a:rPr>
              <a:t>Руководитель: к. т. н, </a:t>
            </a:r>
            <a:r>
              <a:rPr lang="ru-RU" sz="2400" dirty="0" err="1">
                <a:solidFill>
                  <a:srgbClr val="004892"/>
                </a:solidFill>
                <a:latin typeface="Montserrat" panose="00000500000000000000" pitchFamily="2" charset="-52"/>
              </a:rPr>
              <a:t>Тамьярова</a:t>
            </a:r>
            <a:r>
              <a:rPr lang="ru-RU" sz="2400" dirty="0">
                <a:solidFill>
                  <a:srgbClr val="004892"/>
                </a:solidFill>
                <a:latin typeface="Montserrat" panose="00000500000000000000" pitchFamily="2" charset="-52"/>
              </a:rPr>
              <a:t> М. В.</a:t>
            </a:r>
          </a:p>
        </p:txBody>
      </p:sp>
    </p:spTree>
    <p:extLst>
      <p:ext uri="{BB962C8B-B14F-4D97-AF65-F5344CB8AC3E}">
        <p14:creationId xmlns:p14="http://schemas.microsoft.com/office/powerpoint/2010/main" val="2126343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511968" y="280019"/>
            <a:ext cx="9925050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5400" dirty="0">
                <a:solidFill>
                  <a:srgbClr val="004892"/>
                </a:solidFill>
                <a:latin typeface="Montserrat" panose="00000500000000000000" pitchFamily="2" charset="-52"/>
              </a:rPr>
              <a:t>Актуальность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534150"/>
            <a:ext cx="1274154" cy="81440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124075" y="6795741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9086850" y="6795741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511968" y="1428749"/>
            <a:ext cx="9667875" cy="31823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-52"/>
              </a:rPr>
              <a:t>Современные электронные устройства чувствительны к перегреву компонентов</a:t>
            </a: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-52"/>
              </a:rPr>
              <a:t>Ручной температурный контроль требует постоянного участия оператора</a:t>
            </a: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-52"/>
              </a:rPr>
              <a:t>Отсутствует автоматическое накопление и анализ результатов измерений</a:t>
            </a: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-52"/>
              </a:rPr>
              <a:t>Необходима визуализация температурных данных на изображении объекта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-52"/>
              </a:rPr>
              <a:t>Требуется автоматизация формирования отчётов и хранения результатов.</a:t>
            </a: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17437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383380" y="406400"/>
            <a:ext cx="9925050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rgbClr val="004892"/>
                </a:solidFill>
                <a:latin typeface="Montserrat" panose="00000500000000000000" pitchFamily="2" charset="-52"/>
              </a:rPr>
              <a:t>Цель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534150"/>
            <a:ext cx="1274154" cy="81440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124075" y="6795741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9086850" y="6795741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511967" y="1903685"/>
            <a:ext cx="9667875" cy="31823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r>
              <a:rPr lang="ru-RU" sz="3200" dirty="0">
                <a:latin typeface="Montserrat" panose="00000500000000000000" pitchFamily="2" charset="-52"/>
              </a:rPr>
              <a:t>Автоматизировать процесс инфракрасного мониторинга температуры изделий посредством разработки программного обеспечения для управления камерой, визуализации результатов измерений и обработки полученных данных.</a:t>
            </a:r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524722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581025" y="390525"/>
            <a:ext cx="9925050" cy="7567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4000" dirty="0">
                <a:solidFill>
                  <a:srgbClr val="004892"/>
                </a:solidFill>
                <a:latin typeface="Montserrat" panose="00000500000000000000" pitchFamily="2" charset="-52"/>
              </a:rPr>
              <a:t>Задачи: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534150"/>
            <a:ext cx="1274154" cy="81440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124075" y="6795741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9086850" y="6795741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511968" y="1903685"/>
            <a:ext cx="9667875" cy="31823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F5E393-BA54-46F9-9B85-D3A27981D9B1}"/>
              </a:ext>
            </a:extLst>
          </p:cNvPr>
          <p:cNvSpPr txBox="1"/>
          <p:nvPr/>
        </p:nvSpPr>
        <p:spPr>
          <a:xfrm>
            <a:off x="328613" y="1147262"/>
            <a:ext cx="939641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Провести исследование и анализ существующих аналогов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Сформировать комплекс требований к приложению.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alt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О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ценить экономическую выгоду от внедрения.</a:t>
            </a:r>
            <a:endParaRPr lang="ru-R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Разработать алгоритмы обработки измерений.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Реализовать визуализацию температурных точек.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Разработать функционал экспорта и создания отчётов.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Провести тестирование разработанной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3835246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581025" y="390525"/>
            <a:ext cx="9925050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3600" dirty="0">
                <a:solidFill>
                  <a:srgbClr val="004892"/>
                </a:solidFill>
                <a:latin typeface="Montserrat" panose="00000500000000000000" pitchFamily="2" charset="-52"/>
              </a:rPr>
              <a:t>Сравнительная таблица аналогов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534150"/>
            <a:ext cx="1274154" cy="81440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124075" y="6795741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9086850" y="6795741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9E9C05D-85D9-4EEE-AB64-5FD4EBA3D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542748"/>
              </p:ext>
            </p:extLst>
          </p:nvPr>
        </p:nvGraphicFramePr>
        <p:xfrm>
          <a:off x="581024" y="956160"/>
          <a:ext cx="9335136" cy="4460148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266006">
                  <a:extLst>
                    <a:ext uri="{9D8B030D-6E8A-4147-A177-3AD203B41FA5}">
                      <a16:colId xmlns:a16="http://schemas.microsoft.com/office/drawing/2014/main" val="3139602817"/>
                    </a:ext>
                  </a:extLst>
                </a:gridCol>
                <a:gridCol w="2091147">
                  <a:extLst>
                    <a:ext uri="{9D8B030D-6E8A-4147-A177-3AD203B41FA5}">
                      <a16:colId xmlns:a16="http://schemas.microsoft.com/office/drawing/2014/main" val="1792330583"/>
                    </a:ext>
                  </a:extLst>
                </a:gridCol>
                <a:gridCol w="1328906">
                  <a:extLst>
                    <a:ext uri="{9D8B030D-6E8A-4147-A177-3AD203B41FA5}">
                      <a16:colId xmlns:a16="http://schemas.microsoft.com/office/drawing/2014/main" val="3359325622"/>
                    </a:ext>
                  </a:extLst>
                </a:gridCol>
                <a:gridCol w="1211304">
                  <a:extLst>
                    <a:ext uri="{9D8B030D-6E8A-4147-A177-3AD203B41FA5}">
                      <a16:colId xmlns:a16="http://schemas.microsoft.com/office/drawing/2014/main" val="3755683516"/>
                    </a:ext>
                  </a:extLst>
                </a:gridCol>
                <a:gridCol w="1437773">
                  <a:extLst>
                    <a:ext uri="{9D8B030D-6E8A-4147-A177-3AD203B41FA5}">
                      <a16:colId xmlns:a16="http://schemas.microsoft.com/office/drawing/2014/main" val="4015992702"/>
                    </a:ext>
                  </a:extLst>
                </a:gridCol>
              </a:tblGrid>
              <a:tr h="87263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Критерий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Разработанная система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/>
                        <a:t>Fluke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SmartView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FLIR Tools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/>
                        <a:t>ThermaCAM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 err="1"/>
                        <a:t>Researcher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843203"/>
                  </a:ext>
                </a:extLst>
              </a:tr>
              <a:tr h="5115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Экспорт в CSV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✔️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✔️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✔️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✔️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210227"/>
                  </a:ext>
                </a:extLst>
              </a:tr>
              <a:tr h="5126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Создание отчётов DOCX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</a:rPr>
                        <a:t>✔️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✔️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✔️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55694"/>
                  </a:ext>
                </a:extLst>
              </a:tr>
              <a:tr h="5126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Открытый исходный код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109" marR="591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✔️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863607"/>
                  </a:ext>
                </a:extLst>
              </a:tr>
              <a:tr h="5126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Аппаратная независимость</a:t>
                      </a:r>
                    </a:p>
                  </a:txBody>
                  <a:tcPr marL="59109" marR="591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effectLst/>
                        </a:rPr>
                        <a:t>✔️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408680"/>
                  </a:ext>
                </a:extLst>
              </a:tr>
              <a:tr h="5126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Редактирование палитры</a:t>
                      </a:r>
                    </a:p>
                  </a:txBody>
                  <a:tcPr marL="59109" marR="591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</a:rPr>
                        <a:t>✔️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✔️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19217"/>
                  </a:ext>
                </a:extLst>
              </a:tr>
              <a:tr h="5126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Работа с видео</a:t>
                      </a:r>
                    </a:p>
                  </a:txBody>
                  <a:tcPr marL="59109" marR="591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</a:rPr>
                        <a:t>✔️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</a:rPr>
                        <a:t>✔️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✔️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035525"/>
                  </a:ext>
                </a:extLst>
              </a:tr>
              <a:tr h="5126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/>
                        <a:t>Автоматизация через OLE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109" marR="591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</a:rPr>
                        <a:t>✔️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09" marR="5910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96198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1B1E2DE-88B9-4F85-A1A5-C882598833C0}"/>
              </a:ext>
            </a:extLst>
          </p:cNvPr>
          <p:cNvSpPr txBox="1"/>
          <p:nvPr/>
        </p:nvSpPr>
        <p:spPr>
          <a:xfrm>
            <a:off x="581025" y="5467510"/>
            <a:ext cx="79699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ru-RU" sz="1600" dirty="0">
                <a:effectLst/>
              </a:rPr>
              <a:t>✔️  </a:t>
            </a:r>
            <a:r>
              <a:rPr lang="ru-RU" dirty="0">
                <a:effectLst/>
              </a:rPr>
              <a:t>-</a:t>
            </a:r>
            <a:r>
              <a:rPr lang="ru-RU" sz="1600" dirty="0">
                <a:effectLst/>
              </a:rPr>
              <a:t> </a:t>
            </a:r>
            <a:r>
              <a:rPr lang="ru-RU" dirty="0">
                <a:effectLst/>
              </a:rPr>
              <a:t>поддерживается</a:t>
            </a:r>
          </a:p>
          <a:p>
            <a:r>
              <a:rPr lang="ru-RU" dirty="0">
                <a:effectLst/>
              </a:rPr>
              <a:t>❌ - отсутствует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934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383381" y="440267"/>
            <a:ext cx="9925050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rgbClr val="004892"/>
                </a:solidFill>
                <a:latin typeface="Montserrat" panose="00000500000000000000" pitchFamily="2" charset="-52"/>
              </a:rPr>
              <a:t>Стек технологий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534150"/>
            <a:ext cx="1274154" cy="81440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124075" y="6795741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9086850" y="6795741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511968" y="1869819"/>
            <a:ext cx="9667875" cy="31823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r>
              <a:rPr lang="ru-RU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ОС: </a:t>
            </a:r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Windows 10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r>
              <a:rPr lang="ru-RU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СУБД: </a:t>
            </a:r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 8.0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r>
              <a:rPr lang="ru-RU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Язык: </a:t>
            </a:r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 3.</a:t>
            </a:r>
            <a:r>
              <a:rPr lang="ru-RU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0+ 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r>
              <a:rPr lang="ru-RU" sz="4400" dirty="0"/>
              <a:t>GUI: </a:t>
            </a:r>
            <a:r>
              <a:rPr lang="ru-RU" sz="4400" dirty="0" err="1"/>
              <a:t>Tkinter</a:t>
            </a:r>
            <a:endParaRPr lang="en-US" sz="44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B26791-D0F9-670A-6959-5DFFECC41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690" y="4631207"/>
            <a:ext cx="754668" cy="162725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EFB3CD-ABCF-3356-C94A-A4A833913C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5814" y="4144302"/>
            <a:ext cx="968782" cy="105553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790EF5D-ADBC-BE68-0648-334D760833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9968" y="2756686"/>
            <a:ext cx="2150778" cy="110052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AE435DB-3F66-4B7D-5612-4E025B59DF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3525" y="1574411"/>
            <a:ext cx="1173360" cy="114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018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-545721" y="89126"/>
            <a:ext cx="6348326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4000" dirty="0">
                <a:solidFill>
                  <a:srgbClr val="004892"/>
                </a:solidFill>
                <a:latin typeface="Montserrat" panose="00000500000000000000" pitchFamily="2" charset="-52"/>
              </a:rPr>
              <a:t>Входные</a:t>
            </a:r>
            <a:r>
              <a:rPr lang="ru-RU" sz="4400" dirty="0">
                <a:solidFill>
                  <a:srgbClr val="004892"/>
                </a:solidFill>
                <a:latin typeface="Montserrat" panose="00000500000000000000" pitchFamily="2" charset="-52"/>
              </a:rPr>
              <a:t> данные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534150"/>
            <a:ext cx="1274154" cy="81440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124075" y="6795741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9086850" y="6795741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511968" y="1903685"/>
            <a:ext cx="9667875" cy="31823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617167-514D-4EF0-B686-6D85BDACAAC8}"/>
              </a:ext>
            </a:extLst>
          </p:cNvPr>
          <p:cNvSpPr txBox="1"/>
          <p:nvPr/>
        </p:nvSpPr>
        <p:spPr>
          <a:xfrm>
            <a:off x="0" y="984630"/>
            <a:ext cx="735760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Температура с датчика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Изображение с камеры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Координаты точек измерения </a:t>
            </a:r>
            <a:endParaRPr lang="en-US" sz="2800" dirty="0">
              <a:latin typeface="Montserrat" panose="00000500000000000000" pitchFamily="2" charset="-52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Временная метка</a:t>
            </a: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-1050360" y="3332587"/>
            <a:ext cx="7357604" cy="19428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4000" dirty="0">
                <a:solidFill>
                  <a:srgbClr val="004892"/>
                </a:solidFill>
                <a:latin typeface="Montserrat" panose="00000500000000000000" pitchFamily="2" charset="-52"/>
              </a:rPr>
              <a:t>Выходные данные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617167-514D-4EF0-B686-6D85BDACAAC8}"/>
              </a:ext>
            </a:extLst>
          </p:cNvPr>
          <p:cNvSpPr txBox="1"/>
          <p:nvPr/>
        </p:nvSpPr>
        <p:spPr>
          <a:xfrm>
            <a:off x="0" y="4152005"/>
            <a:ext cx="76809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Изображение с тепловой картой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Записи в базе данных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CSV-файлы результатов измерений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2800" dirty="0">
                <a:latin typeface="Montserrat" panose="00000500000000000000" pitchFamily="2" charset="-52"/>
              </a:rPr>
              <a:t>Отчёты в формате DOCX </a:t>
            </a:r>
          </a:p>
        </p:txBody>
      </p:sp>
    </p:spTree>
    <p:extLst>
      <p:ext uri="{BB962C8B-B14F-4D97-AF65-F5344CB8AC3E}">
        <p14:creationId xmlns:p14="http://schemas.microsoft.com/office/powerpoint/2010/main" val="3488289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5BDD6-F6C4-BE79-7CFE-1AD1B9AD4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5934FBC-13D9-D7B9-E1CF-89A8CB3A3226}"/>
              </a:ext>
            </a:extLst>
          </p:cNvPr>
          <p:cNvSpPr txBox="1">
            <a:spLocks/>
          </p:cNvSpPr>
          <p:nvPr/>
        </p:nvSpPr>
        <p:spPr>
          <a:xfrm>
            <a:off x="1104198" y="241999"/>
            <a:ext cx="8941319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4800" dirty="0">
                <a:solidFill>
                  <a:srgbClr val="004892"/>
                </a:solidFill>
                <a:latin typeface="Montserrat" panose="00000500000000000000" pitchFamily="2" charset="-52"/>
              </a:rPr>
              <a:t>Структура системы</a:t>
            </a:r>
            <a:endParaRPr lang="ru-RU" sz="5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B54185F-D655-3889-8EC9-251690E87F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745267"/>
            <a:ext cx="1274154" cy="814408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B0C59C7-5137-D51D-9CBA-CE3D22B16718}"/>
              </a:ext>
            </a:extLst>
          </p:cNvPr>
          <p:cNvSpPr txBox="1">
            <a:spLocks/>
          </p:cNvSpPr>
          <p:nvPr/>
        </p:nvSpPr>
        <p:spPr>
          <a:xfrm>
            <a:off x="2124075" y="7006858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8B6F41D1-37CB-E77F-1E9C-6203C2433DA7}"/>
              </a:ext>
            </a:extLst>
          </p:cNvPr>
          <p:cNvSpPr txBox="1">
            <a:spLocks/>
          </p:cNvSpPr>
          <p:nvPr/>
        </p:nvSpPr>
        <p:spPr>
          <a:xfrm>
            <a:off x="9086850" y="7006858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8A1CF06F-B4A0-A89D-17BC-9B21027DEDDC}"/>
              </a:ext>
            </a:extLst>
          </p:cNvPr>
          <p:cNvSpPr txBox="1">
            <a:spLocks/>
          </p:cNvSpPr>
          <p:nvPr/>
        </p:nvSpPr>
        <p:spPr>
          <a:xfrm>
            <a:off x="410076" y="1050639"/>
            <a:ext cx="9667875" cy="31823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3600" dirty="0"/>
          </a:p>
          <a:p>
            <a:pPr algn="l"/>
            <a:endParaRPr lang="ru-RU" sz="36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D5EC977-7798-4DDD-BCC3-53EA7C81696B}"/>
              </a:ext>
            </a:extLst>
          </p:cNvPr>
          <p:cNvSpPr txBox="1"/>
          <p:nvPr/>
        </p:nvSpPr>
        <p:spPr>
          <a:xfrm>
            <a:off x="237173" y="2118958"/>
            <a:ext cx="79314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>
                <a:latin typeface="Montserrat" panose="00000500000000000000" pitchFamily="2" charset="-52"/>
              </a:rPr>
              <a:t>Модуль сбора данных.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ru-RU" sz="3600" dirty="0">
              <a:latin typeface="Montserrat" panose="00000500000000000000" pitchFamily="2" charset="-52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>
                <a:latin typeface="Montserrat" panose="00000500000000000000" pitchFamily="2" charset="-52"/>
              </a:rPr>
              <a:t>Модуль визуализации.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ru-RU" sz="3600" dirty="0">
              <a:latin typeface="Montserrat" panose="00000500000000000000" pitchFamily="2" charset="-52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>
                <a:latin typeface="Montserrat" panose="00000500000000000000" pitchFamily="2" charset="-52"/>
              </a:rPr>
              <a:t>Модуль экспорта.</a:t>
            </a:r>
          </a:p>
        </p:txBody>
      </p:sp>
    </p:spTree>
    <p:extLst>
      <p:ext uri="{BB962C8B-B14F-4D97-AF65-F5344CB8AC3E}">
        <p14:creationId xmlns:p14="http://schemas.microsoft.com/office/powerpoint/2010/main" val="3743231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5EEE4-DEE3-5909-EBC8-4BBA1E153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4BFADC9-B7E6-C6CA-1AF6-4B247E385ACC}"/>
              </a:ext>
            </a:extLst>
          </p:cNvPr>
          <p:cNvSpPr txBox="1">
            <a:spLocks/>
          </p:cNvSpPr>
          <p:nvPr/>
        </p:nvSpPr>
        <p:spPr>
          <a:xfrm>
            <a:off x="1104198" y="241999"/>
            <a:ext cx="8941319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4800" dirty="0">
                <a:solidFill>
                  <a:srgbClr val="004892"/>
                </a:solidFill>
                <a:latin typeface="Montserrat" panose="00000500000000000000" pitchFamily="2" charset="-52"/>
              </a:rPr>
              <a:t>Алгоритм работы системы</a:t>
            </a:r>
            <a:endParaRPr lang="ru-RU" sz="5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3F7B21E-E8E0-A8C9-6150-A2AAD1F23F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21" y="6745267"/>
            <a:ext cx="1274154" cy="814408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D9449BB4-674B-646E-F8DE-3D3EA6EB3D9B}"/>
              </a:ext>
            </a:extLst>
          </p:cNvPr>
          <p:cNvSpPr txBox="1">
            <a:spLocks/>
          </p:cNvSpPr>
          <p:nvPr/>
        </p:nvSpPr>
        <p:spPr>
          <a:xfrm>
            <a:off x="2124075" y="7006858"/>
            <a:ext cx="5667376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004892"/>
                </a:solidFill>
                <a:latin typeface="Montserrat" panose="00000500000000000000" pitchFamily="2" charset="-52"/>
              </a:rPr>
              <a:t>Ульяновский государственный технический университет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C6236952-C46C-2063-E4A6-E159C3C04055}"/>
              </a:ext>
            </a:extLst>
          </p:cNvPr>
          <p:cNvSpPr txBox="1">
            <a:spLocks/>
          </p:cNvSpPr>
          <p:nvPr/>
        </p:nvSpPr>
        <p:spPr>
          <a:xfrm>
            <a:off x="9086850" y="7006858"/>
            <a:ext cx="1276350" cy="357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4892"/>
                </a:solidFill>
                <a:latin typeface="Montserrat" panose="00000500000000000000" pitchFamily="2" charset="-52"/>
              </a:rPr>
              <a:t>ULSTU.RU </a:t>
            </a:r>
            <a:endParaRPr lang="ru-RU" sz="1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1120BAB8-CCAE-E1B8-EA84-964796D7C23F}"/>
              </a:ext>
            </a:extLst>
          </p:cNvPr>
          <p:cNvSpPr txBox="1">
            <a:spLocks/>
          </p:cNvSpPr>
          <p:nvPr/>
        </p:nvSpPr>
        <p:spPr>
          <a:xfrm>
            <a:off x="511968" y="2114802"/>
            <a:ext cx="9667875" cy="31823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4892"/>
              </a:buClr>
            </a:pP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B0743FA-41FC-077C-8B7C-ED1D38E48C5C}"/>
              </a:ext>
            </a:extLst>
          </p:cNvPr>
          <p:cNvSpPr/>
          <p:nvPr/>
        </p:nvSpPr>
        <p:spPr>
          <a:xfrm>
            <a:off x="808426" y="1432559"/>
            <a:ext cx="1731574" cy="99924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Температура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Координаты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9E7C1DD-3146-21DA-EBDE-39EC4FF7BB7B}"/>
              </a:ext>
            </a:extLst>
          </p:cNvPr>
          <p:cNvSpPr/>
          <p:nvPr/>
        </p:nvSpPr>
        <p:spPr>
          <a:xfrm>
            <a:off x="808426" y="2907275"/>
            <a:ext cx="1731574" cy="9578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Изображение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923ACEA1-C77E-A166-0BB5-BAAE1C187BEF}"/>
              </a:ext>
            </a:extLst>
          </p:cNvPr>
          <p:cNvSpPr/>
          <p:nvPr/>
        </p:nvSpPr>
        <p:spPr>
          <a:xfrm>
            <a:off x="2938350" y="1926782"/>
            <a:ext cx="1629568" cy="15931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сбора данных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1A3C1497-FCC0-4282-7C0E-A3D9EFAD7580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2540000" y="1932183"/>
            <a:ext cx="636995" cy="2279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3351B3AD-0BC1-B944-24C4-67C71666845B}"/>
              </a:ext>
            </a:extLst>
          </p:cNvPr>
          <p:cNvCxnSpPr>
            <a:cxnSpLocks/>
            <a:stCxn id="15" idx="3"/>
            <a:endCxn id="16" idx="3"/>
          </p:cNvCxnSpPr>
          <p:nvPr/>
        </p:nvCxnSpPr>
        <p:spPr>
          <a:xfrm flipV="1">
            <a:off x="2540000" y="3286638"/>
            <a:ext cx="636995" cy="995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C334991-1771-34F3-F41D-F3774EE3B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274" y="1361854"/>
            <a:ext cx="3630700" cy="2723025"/>
          </a:xfrm>
          <a:prstGeom prst="rect">
            <a:avLst/>
          </a:prstGeom>
        </p:spPr>
      </p:pic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0B9D44AA-2927-D355-E3ED-FFE0CFC66BE1}"/>
              </a:ext>
            </a:extLst>
          </p:cNvPr>
          <p:cNvCxnSpPr>
            <a:stCxn id="16" idx="6"/>
            <a:endCxn id="30" idx="1"/>
          </p:cNvCxnSpPr>
          <p:nvPr/>
        </p:nvCxnSpPr>
        <p:spPr>
          <a:xfrm>
            <a:off x="4567918" y="2723367"/>
            <a:ext cx="5003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217A6BB4-9C1A-ADA2-A086-0718CC63C449}"/>
              </a:ext>
            </a:extLst>
          </p:cNvPr>
          <p:cNvSpPr/>
          <p:nvPr/>
        </p:nvSpPr>
        <p:spPr>
          <a:xfrm>
            <a:off x="5649184" y="4780643"/>
            <a:ext cx="2468880" cy="124037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Готовый отчёт</a:t>
            </a:r>
          </a:p>
        </p:txBody>
      </p: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A863B20F-2546-8718-D0B4-6B4173BA80D2}"/>
              </a:ext>
            </a:extLst>
          </p:cNvPr>
          <p:cNvCxnSpPr>
            <a:cxnSpLocks/>
            <a:stCxn id="30" idx="2"/>
            <a:endCxn id="38" idx="0"/>
          </p:cNvCxnSpPr>
          <p:nvPr/>
        </p:nvCxnSpPr>
        <p:spPr>
          <a:xfrm>
            <a:off x="6883624" y="4084879"/>
            <a:ext cx="0" cy="6957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E5C43D5-53C1-6C77-8DA0-58164052907C}"/>
              </a:ext>
            </a:extLst>
          </p:cNvPr>
          <p:cNvSpPr txBox="1"/>
          <p:nvPr/>
        </p:nvSpPr>
        <p:spPr>
          <a:xfrm>
            <a:off x="8698974" y="2431806"/>
            <a:ext cx="2391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Модуль </a:t>
            </a:r>
          </a:p>
          <a:p>
            <a:r>
              <a:rPr lang="ru-RU" dirty="0"/>
              <a:t>визуализации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3554227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554D394-1117-CD6B-8848-2C5BBD678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408" y="1076007"/>
            <a:ext cx="8020898" cy="6015673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AFB5604-C069-61AB-FE58-724C19868D11}"/>
              </a:ext>
            </a:extLst>
          </p:cNvPr>
          <p:cNvSpPr txBox="1">
            <a:spLocks/>
          </p:cNvSpPr>
          <p:nvPr/>
        </p:nvSpPr>
        <p:spPr>
          <a:xfrm>
            <a:off x="1104198" y="241999"/>
            <a:ext cx="8941319" cy="22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4000" dirty="0">
                <a:solidFill>
                  <a:srgbClr val="004892"/>
                </a:solidFill>
                <a:latin typeface="Montserrat" panose="00000500000000000000" pitchFamily="2" charset="-52"/>
              </a:rPr>
              <a:t>Пользовательский интерфейс</a:t>
            </a:r>
            <a:endParaRPr lang="ru-RU" sz="4400" dirty="0">
              <a:solidFill>
                <a:srgbClr val="0048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836261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07292" y="2057400"/>
            <a:ext cx="8048626" cy="2297459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800" dirty="0">
                <a:solidFill>
                  <a:srgbClr val="004892"/>
                </a:solidFill>
                <a:latin typeface="Montserrat Bold" panose="00000800000000000000" pitchFamily="2" charset="-52"/>
              </a:rPr>
              <a:t>Спасибо за внимание!</a:t>
            </a: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0" y="6862674"/>
            <a:ext cx="10691814" cy="4588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73277"/>
                </a:solidFill>
                <a:latin typeface="Montserrat" panose="00000500000000000000" pitchFamily="2" charset="-52"/>
              </a:rPr>
              <a:t>202</a:t>
            </a:r>
            <a:r>
              <a:rPr lang="ru-RU" sz="1600" dirty="0">
                <a:solidFill>
                  <a:srgbClr val="173277"/>
                </a:solidFill>
                <a:latin typeface="Montserrat" panose="00000500000000000000" pitchFamily="2" charset="-52"/>
              </a:rPr>
              <a:t>5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196" y="5178446"/>
            <a:ext cx="2232818" cy="142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3600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4">
      <a:majorFont>
        <a:latin typeface="Geometria  bold"/>
        <a:ea typeface=""/>
        <a:cs typeface=""/>
      </a:majorFont>
      <a:minorFont>
        <a:latin typeface="Geometria light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2271</TotalTime>
  <Words>352</Words>
  <Application>Microsoft Office PowerPoint</Application>
  <PresentationFormat>Произвольный</PresentationFormat>
  <Paragraphs>117</Paragraphs>
  <Slides>11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Geometria  bold</vt:lpstr>
      <vt:lpstr>Geometria light</vt:lpstr>
      <vt:lpstr>Montserrat</vt:lpstr>
      <vt:lpstr>Montserrat Bold</vt:lpstr>
      <vt:lpstr>Тема Office</vt:lpstr>
      <vt:lpstr>Разработка программного обеспечения для управления камерой и обработки данных в системе инфракрасного мониторинга температуры объекта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Результаты приемной  кампании - 2019</dc:title>
  <dc:creator>afsafasfasfa afafaf</dc:creator>
  <cp:lastModifiedBy>Николай Лашманов</cp:lastModifiedBy>
  <cp:revision>94</cp:revision>
  <dcterms:created xsi:type="dcterms:W3CDTF">2019-09-16T12:04:13Z</dcterms:created>
  <dcterms:modified xsi:type="dcterms:W3CDTF">2026-06-21T13:15:47Z</dcterms:modified>
</cp:coreProperties>
</file>